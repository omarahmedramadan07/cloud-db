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7" r:id="rId9"/>
    <p:sldId id="266" r:id="rId10"/>
    <p:sldId id="269" r:id="rId11"/>
    <p:sldId id="271" r:id="rId12"/>
    <p:sldId id="270" r:id="rId13"/>
    <p:sldId id="273" r:id="rId14"/>
    <p:sldId id="272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2971-3A1B-47C5-9A28-7D855EC2FD3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F6EFF-1579-4409-AA0A-40E626CE4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1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F6EFF-1579-4409-AA0A-40E626CE43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0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F2DB-54EC-A05F-2C4F-7752286A6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343DD-5DDA-5E9D-5D6A-BEFD727BD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C2859-062A-C6D3-248E-18488E15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12911-FEC9-740B-4341-BA0501965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60476-900B-6288-5CC6-00EEEE3C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4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2A1A-756F-43E4-5092-FEFC381B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0D4F-4D0D-B9E2-B2DF-73EB7F965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FA3DA-FAED-43E4-5B43-737CE868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DD711-E1B9-685E-52C3-3521A850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85D97-A14D-B79A-6060-791519A7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8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677D-2536-4147-CC92-175A916DE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773D2-34BB-0A3E-8800-A249B0A8B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E91A-BE9E-D1A0-091A-E25A2C98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FAEA2-FFBA-289B-4B53-3ABFB924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E3839-74A7-A447-3791-D42782E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9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E461-2AFA-27B1-F383-FD5E6579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9BA2-C68D-0D00-F838-A03FEE651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CC720-6794-4473-365E-555FF8411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84FC0-2DD0-A834-B576-9BE3BD15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1728E-953C-F059-F295-CFADBEA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ED245-D3F9-111D-611D-331E34AA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2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1D40-42DF-5E64-23E8-BC6725FC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F88CD-2E6B-782B-10CB-044C7292E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AFEC6-8477-613B-3674-23A3B541D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EA797-D00F-E923-AFB2-1861ACBDD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2D88B-FECC-1885-9C31-F99716989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EF0AB-49F9-39AC-095C-1DC114B4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B5795-F644-166A-A275-BF3633F9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9BF55-4E85-66BA-82A2-1CB540F7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6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34EA-8CE9-63EF-D718-2111EEE7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91FB8-67B1-92DD-9387-31ADAE5E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E5A98-0E72-1514-1EF9-AFA1CC35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FE8B6-3A48-14CD-255E-9BE04DFF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0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F432F-C8B8-E7E7-9E7D-5FA1DC3E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91BD0-B14C-AC62-C71D-42BA0D29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0520-FD77-60F3-74C8-E41BEE08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E57D-36F3-F562-737E-F16BB005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E5E80-BE3E-8BCD-3C1E-5A4D178F4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914E2-3F6F-08E8-0BAC-16726A2BE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7FEAB-23AD-5540-140E-C0F12EE8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BA503-316D-5D76-28EE-6117E1B7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02E58-8E01-85A3-8B60-D47BBE09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8422-9685-1736-2CD8-6417B26F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E0579-7295-7DD4-B591-3DFA35057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B2BCA-35ED-1518-952C-C5A921CC4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46E6E-91F3-BEAF-1104-8D9E5A64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BF0D6-7EB4-E7B1-69EC-F5BB2EE6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16090-7E10-560E-5967-8F2D67C8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95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B09F-0C6A-F12C-9F56-EE6BC21E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46DD4-ABA5-280C-9A31-D51B2CA41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6ECF-5211-B49B-AA1B-71E1C74B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BC17-60C8-E7DA-A909-0BE2A497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FA189-4D39-9E32-8504-88ADAD8B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9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8A5F8-AE37-3949-0A3D-E5683E276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6F0BD-B45D-FFDC-06BF-961F665F1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E63FA-243A-7ED1-B00D-0670EC93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0D001-F22E-23CA-BF69-BDB0FA80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BFF55-2A9F-A8B8-91F6-3367BCAC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3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DF1C56-E469-8F8B-BCEC-D40A1E9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61827-176C-3CA6-1ACB-320F54B13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AE16D-EE82-7133-A2B3-7AFBF0980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19ABC-FFA0-4F18-9EBE-62FF5CA1620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CF2F-32BF-85D0-00BB-25872AC2C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DE9C-614E-F912-6715-D72D30720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B749C-3E0C-4A70-A0EB-D4B0AD8EF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5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FE2DBA-03A5-45AF-33E8-0AAD5F5B0108}"/>
              </a:ext>
            </a:extLst>
          </p:cNvPr>
          <p:cNvSpPr txBox="1"/>
          <p:nvPr/>
        </p:nvSpPr>
        <p:spPr>
          <a:xfrm>
            <a:off x="0" y="0"/>
            <a:ext cx="91419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Title:</a:t>
            </a:r>
            <a:r>
              <a:rPr lang="en-US" dirty="0"/>
              <a:t> Cloud-Native HR Data Engineering &amp; Analytics Pipeline</a:t>
            </a:r>
          </a:p>
          <a:p>
            <a:pPr>
              <a:buNone/>
            </a:pPr>
            <a:r>
              <a:rPr lang="en-US" b="1" dirty="0"/>
              <a:t>Course:</a:t>
            </a:r>
            <a:r>
              <a:rPr lang="en-US" dirty="0"/>
              <a:t> Cloud Databases (CET216)</a:t>
            </a:r>
            <a:endParaRPr lang="ar-EG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Team Members:</a:t>
            </a:r>
            <a:r>
              <a:rPr lang="en-US" dirty="0"/>
              <a:t> </a:t>
            </a:r>
            <a:endParaRPr lang="ar-EG" dirty="0"/>
          </a:p>
          <a:p>
            <a:pPr lvl="1"/>
            <a:r>
              <a:rPr lang="en-US" dirty="0"/>
              <a:t>1. </a:t>
            </a:r>
            <a:r>
              <a:rPr lang="en-US" dirty="0">
                <a:solidFill>
                  <a:srgbClr val="1F2328"/>
                </a:solidFill>
                <a:latin typeface="Mona Sans VF"/>
              </a:rPr>
              <a:t>Omar Ahmed Ramadan</a:t>
            </a:r>
            <a:r>
              <a:rPr lang="en-US" dirty="0"/>
              <a:t> </a:t>
            </a:r>
            <a:endParaRPr lang="ar-EG" dirty="0"/>
          </a:p>
          <a:p>
            <a:pPr lvl="1"/>
            <a:r>
              <a:rPr lang="en-US" dirty="0"/>
              <a:t>2. </a:t>
            </a:r>
            <a:r>
              <a:rPr lang="en-US" dirty="0">
                <a:solidFill>
                  <a:srgbClr val="1F2328"/>
                </a:solidFill>
                <a:latin typeface="Mona Sans VF"/>
              </a:rPr>
              <a:t>Ahmed Mohamed Aldmrdash</a:t>
            </a:r>
            <a:r>
              <a:rPr lang="en-US" dirty="0"/>
              <a:t> </a:t>
            </a:r>
            <a:endParaRPr lang="ar-EG" dirty="0"/>
          </a:p>
          <a:p>
            <a:pPr lvl="1"/>
            <a:r>
              <a:rPr lang="en-US" dirty="0"/>
              <a:t>3. </a:t>
            </a:r>
            <a:r>
              <a:rPr lang="en-US" dirty="0">
                <a:solidFill>
                  <a:srgbClr val="1F2328"/>
                </a:solidFill>
                <a:latin typeface="Mona Sans VF"/>
              </a:rPr>
              <a:t>Moaaz ABD </a:t>
            </a:r>
            <a:r>
              <a:rPr lang="en-US" dirty="0" err="1">
                <a:solidFill>
                  <a:srgbClr val="1F2328"/>
                </a:solidFill>
                <a:latin typeface="Mona Sans VF"/>
              </a:rPr>
              <a:t>Aljawwad</a:t>
            </a:r>
            <a:r>
              <a:rPr lang="en-US" dirty="0">
                <a:solidFill>
                  <a:srgbClr val="1F2328"/>
                </a:solidFill>
                <a:latin typeface="Mona Sans VF"/>
              </a:rPr>
              <a:t> Fouad</a:t>
            </a:r>
          </a:p>
          <a:p>
            <a:pPr lvl="1"/>
            <a:endParaRPr lang="ar-EG" b="1" dirty="0"/>
          </a:p>
          <a:p>
            <a:pPr lvl="1"/>
            <a:endParaRPr lang="ar-EG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University:</a:t>
            </a:r>
            <a:r>
              <a:rPr lang="en-US" dirty="0"/>
              <a:t> El Sewedy University of Technology (SUT)</a:t>
            </a:r>
          </a:p>
        </p:txBody>
      </p:sp>
    </p:spTree>
    <p:extLst>
      <p:ext uri="{BB962C8B-B14F-4D97-AF65-F5344CB8AC3E}">
        <p14:creationId xmlns:p14="http://schemas.microsoft.com/office/powerpoint/2010/main" val="182544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A71FFD-60CD-7726-52A7-427E5ACBA9EC}"/>
              </a:ext>
            </a:extLst>
          </p:cNvPr>
          <p:cNvSpPr txBox="1"/>
          <p:nvPr/>
        </p:nvSpPr>
        <p:spPr>
          <a:xfrm>
            <a:off x="0" y="1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Overview</a:t>
            </a:r>
            <a:r>
              <a:rPr lang="ar-EG" b="1" dirty="0"/>
              <a:t> </a:t>
            </a:r>
            <a:r>
              <a:rPr lang="en-US" b="1" dirty="0"/>
              <a:t>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Building a scalable, end-to-end data pipeline to analyze and predict employee attrition.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Technology: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Apache Spark (</a:t>
            </a:r>
            <a:r>
              <a:rPr lang="en-US" b="1" dirty="0" err="1"/>
              <a:t>PySpark</a:t>
            </a:r>
            <a:r>
              <a:rPr lang="en-US" b="1" dirty="0"/>
              <a:t>)</a:t>
            </a:r>
            <a:r>
              <a:rPr lang="en-US" dirty="0"/>
              <a:t> for distributed cloud processing.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Platform: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Developed and tested using </a:t>
            </a:r>
            <a:r>
              <a:rPr lang="en-US" b="1" dirty="0"/>
              <a:t>Databricks</a:t>
            </a:r>
            <a:r>
              <a:rPr lang="en-US" dirty="0"/>
              <a:t> and </a:t>
            </a:r>
            <a:r>
              <a:rPr lang="en-US" b="1" dirty="0"/>
              <a:t>GitHub</a:t>
            </a:r>
            <a:r>
              <a:rPr lang="en-US" dirty="0"/>
              <a:t> integration.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87739-4CA5-98F4-D598-4A7D3E2EC983}"/>
              </a:ext>
            </a:extLst>
          </p:cNvPr>
          <p:cNvSpPr txBox="1"/>
          <p:nvPr/>
        </p:nvSpPr>
        <p:spPr>
          <a:xfrm>
            <a:off x="0" y="3757674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Modular Cloud Architecture?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Our team followed the </a:t>
            </a:r>
            <a:r>
              <a:rPr lang="en-US" b="1" dirty="0"/>
              <a:t>"Separation of Concerns"</a:t>
            </a:r>
            <a:r>
              <a:rPr lang="en-US" dirty="0"/>
              <a:t> principle.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 of one file, we built specialized modules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 parallel development (Team Collaboration).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Ensure the system is </a:t>
            </a:r>
            <a:r>
              <a:rPr lang="en-US" b="1" dirty="0"/>
              <a:t>Scalable</a:t>
            </a:r>
            <a:r>
              <a:rPr lang="en-US" dirty="0"/>
              <a:t> on Cloud Clusters.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 the ETL process professional and easy to debug.</a:t>
            </a:r>
          </a:p>
        </p:txBody>
      </p:sp>
    </p:spTree>
    <p:extLst>
      <p:ext uri="{BB962C8B-B14F-4D97-AF65-F5344CB8AC3E}">
        <p14:creationId xmlns:p14="http://schemas.microsoft.com/office/powerpoint/2010/main" val="405763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E7EA-F43F-E0EA-3B6C-7EA16914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36A427-43D0-B2BA-BDC7-BB146D0FF211}"/>
              </a:ext>
            </a:extLst>
          </p:cNvPr>
          <p:cNvSpPr txBox="1"/>
          <p:nvPr/>
        </p:nvSpPr>
        <p:spPr>
          <a:xfrm>
            <a:off x="0" y="0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Ingestion &amp; Transformation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data_loader.py</a:t>
            </a:r>
            <a:r>
              <a:rPr lang="en-US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Handles the Ingestion Layer—connecting Spark to the Cloud Database/Storage.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preprocessing.py</a:t>
            </a:r>
            <a:r>
              <a:rPr lang="en-US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ETL Engine. Cleans raw records and prepares them for distributed computing.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feature_engineering.py</a:t>
            </a:r>
            <a:r>
              <a:rPr lang="en-US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Adds business value by creating new data dimensions (Loyalty &amp; Engagement metrics).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FA6B1-2771-B0B8-66FA-398F294827C5}"/>
              </a:ext>
            </a:extLst>
          </p:cNvPr>
          <p:cNvSpPr txBox="1"/>
          <p:nvPr/>
        </p:nvSpPr>
        <p:spPr>
          <a:xfrm>
            <a:off x="0" y="3613558"/>
            <a:ext cx="1219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Distributed Analytics &amp; AI :</a:t>
            </a:r>
          </a:p>
          <a:p>
            <a:pPr lvl="1"/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eda_analysis.py</a:t>
            </a:r>
            <a:r>
              <a:rPr lang="en-US" dirty="0"/>
              <a:t>: Performs OLAP (Online Analytical Processing) to generate department-level insights.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models_classification.py</a:t>
            </a:r>
            <a:r>
              <a:rPr lang="en-US" dirty="0"/>
              <a:t>: Uses Machine Learning to predict attrition risks.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models_clustering.py</a:t>
            </a:r>
            <a:r>
              <a:rPr lang="en-US" dirty="0"/>
              <a:t>: Segments employees into groups based on behavior patterns.</a:t>
            </a:r>
          </a:p>
        </p:txBody>
      </p:sp>
    </p:spTree>
    <p:extLst>
      <p:ext uri="{BB962C8B-B14F-4D97-AF65-F5344CB8AC3E}">
        <p14:creationId xmlns:p14="http://schemas.microsoft.com/office/powerpoint/2010/main" val="358453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D2214-ED7B-000E-B591-41964C3B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DEE1D-4DBA-5071-D299-3A6CEB3878CB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Orchestration &amp; UI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main.py</a:t>
            </a:r>
            <a:r>
              <a:rPr lang="en-US" dirty="0"/>
              <a:t>: The </a:t>
            </a:r>
            <a:r>
              <a:rPr lang="en-US" b="1" dirty="0"/>
              <a:t>Pipeline Orchestrator</a:t>
            </a:r>
            <a:r>
              <a:rPr lang="en-US" dirty="0"/>
              <a:t>. This is the file that runs the entire automated cloud job.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app.py</a:t>
            </a:r>
            <a:r>
              <a:rPr lang="en-US" dirty="0"/>
              <a:t>: The </a:t>
            </a:r>
            <a:r>
              <a:rPr lang="en-US" b="1" dirty="0"/>
              <a:t>Consumer Interface</a:t>
            </a:r>
            <a:r>
              <a:rPr lang="en-US" dirty="0"/>
              <a:t>. A </a:t>
            </a:r>
            <a:r>
              <a:rPr lang="en-US" dirty="0" err="1"/>
              <a:t>Streamlit</a:t>
            </a:r>
            <a:r>
              <a:rPr lang="en-US" dirty="0"/>
              <a:t> dashboard that visualizes the final results for HR managers.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DBD39-1676-4C28-6CC3-354B92090120}"/>
              </a:ext>
            </a:extLst>
          </p:cNvPr>
          <p:cNvSpPr txBox="1"/>
          <p:nvPr/>
        </p:nvSpPr>
        <p:spPr>
          <a:xfrm>
            <a:off x="0" y="1786855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Cloud Implementation Details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Requirements Management:</a:t>
            </a:r>
            <a:r>
              <a:rPr lang="en-US" dirty="0"/>
              <a:t> Using </a:t>
            </a:r>
            <a:r>
              <a:rPr lang="en-US" dirty="0">
                <a:latin typeface="Courier New" panose="02070309020205020404" pitchFamily="49" charset="0"/>
              </a:rPr>
              <a:t>requirements.txt</a:t>
            </a:r>
            <a:r>
              <a:rPr lang="en-US" dirty="0"/>
              <a:t> to ensure the environment is reproducible on any Cloud Instance.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Processing:</a:t>
            </a:r>
            <a:r>
              <a:rPr lang="en-US" dirty="0"/>
              <a:t> Using Spark's distributed architecture to handle large datasets that exceed local memory.</a:t>
            </a:r>
          </a:p>
        </p:txBody>
      </p:sp>
    </p:spTree>
    <p:extLst>
      <p:ext uri="{BB962C8B-B14F-4D97-AF65-F5344CB8AC3E}">
        <p14:creationId xmlns:p14="http://schemas.microsoft.com/office/powerpoint/2010/main" val="174073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F1396-417F-63D3-6A12-A7387B35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D51421-CF5A-EE92-DF28-8CEEF5B3F498}"/>
              </a:ext>
            </a:extLst>
          </p:cNvPr>
          <p:cNvSpPr txBox="1"/>
          <p:nvPr/>
        </p:nvSpPr>
        <p:spPr>
          <a:xfrm>
            <a:off x="0" y="0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Courier New" panose="02070309020205020404" pitchFamily="49" charset="0"/>
              </a:rPr>
              <a:t>main.py</a:t>
            </a:r>
            <a:r>
              <a:rPr lang="en-US" b="1" dirty="0"/>
              <a:t> (The Orchestrator) </a:t>
            </a:r>
            <a:r>
              <a:rPr lang="ar-EG" b="1" dirty="0"/>
              <a:t> :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This is the entry point of the application. It acts as the "Brain" that coordinates the execution order of all other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It initializes the </a:t>
            </a:r>
            <a:r>
              <a:rPr lang="en-US" b="1" dirty="0" err="1"/>
              <a:t>SparkSession</a:t>
            </a:r>
            <a:r>
              <a:rPr lang="en-US" dirty="0"/>
              <a:t> (The core of any Cloud Database project).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defines the pipeline sequence: Ingest → Clean → Analyze → Feature Engineering → Modeling.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8CA38-360A-4A9E-52DC-08508F9BAECD}"/>
              </a:ext>
            </a:extLst>
          </p:cNvPr>
          <p:cNvSpPr txBox="1"/>
          <p:nvPr/>
        </p:nvSpPr>
        <p:spPr>
          <a:xfrm>
            <a:off x="0" y="2690336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</a:t>
            </a:r>
            <a:r>
              <a:rPr lang="en-US" b="1" dirty="0">
                <a:latin typeface="Courier New" panose="02070309020205020404" pitchFamily="49" charset="0"/>
              </a:rPr>
              <a:t>data_loader.py</a:t>
            </a:r>
            <a:r>
              <a:rPr lang="en-US" b="1" dirty="0"/>
              <a:t> (The Ingestion Layer) </a:t>
            </a:r>
            <a:r>
              <a:rPr lang="ar-EG" b="1" dirty="0"/>
              <a:t>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Responsible for connecting to the data source and loading it into the Spark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Contains the </a:t>
            </a:r>
            <a:r>
              <a:rPr lang="en-US" dirty="0" err="1">
                <a:latin typeface="Courier New" panose="02070309020205020404" pitchFamily="49" charset="0"/>
              </a:rPr>
              <a:t>load_hr_data</a:t>
            </a:r>
            <a:r>
              <a:rPr lang="en-US" dirty="0"/>
              <a:t> function.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Reads the CSV file and converts it into a </a:t>
            </a:r>
            <a:r>
              <a:rPr lang="en-US" b="1" dirty="0"/>
              <a:t>Spark </a:t>
            </a:r>
            <a:r>
              <a:rPr lang="en-US" b="1" dirty="0" err="1"/>
              <a:t>DataFrame</a:t>
            </a:r>
            <a:r>
              <a:rPr lang="en-US" dirty="0"/>
              <a:t>, which allows for distributed processing in the cloud.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A41FF-4D37-248B-5869-42DAED26C7C1}"/>
              </a:ext>
            </a:extLst>
          </p:cNvPr>
          <p:cNvSpPr txBox="1"/>
          <p:nvPr/>
        </p:nvSpPr>
        <p:spPr>
          <a:xfrm>
            <a:off x="0" y="5103674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</a:t>
            </a:r>
            <a:r>
              <a:rPr lang="en-US" b="1" dirty="0">
                <a:latin typeface="Courier New" panose="02070309020205020404" pitchFamily="49" charset="0"/>
              </a:rPr>
              <a:t>preprocessing.py</a:t>
            </a:r>
            <a:r>
              <a:rPr lang="en-US" b="1" dirty="0"/>
              <a:t> (The Cleaning &amp; ETL Layer)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Cleans and prepares the raw data for the AI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Handles missing values (</a:t>
            </a:r>
            <a:r>
              <a:rPr lang="en-US" dirty="0" err="1">
                <a:latin typeface="Courier New" panose="02070309020205020404" pitchFamily="49" charset="0"/>
              </a:rPr>
              <a:t>dropna</a:t>
            </a:r>
            <a:r>
              <a:rPr lang="en-U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 err="1"/>
              <a:t>StringIndexer</a:t>
            </a:r>
            <a:r>
              <a:rPr lang="en-US" dirty="0"/>
              <a:t> to convert categorical text data (like "Department" or "Gender") into numerical indices that the Machine Learning algorithms can understand.</a:t>
            </a:r>
          </a:p>
        </p:txBody>
      </p:sp>
    </p:spTree>
    <p:extLst>
      <p:ext uri="{BB962C8B-B14F-4D97-AF65-F5344CB8AC3E}">
        <p14:creationId xmlns:p14="http://schemas.microsoft.com/office/powerpoint/2010/main" val="3209388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A08FC-8B64-E0F9-8C77-0077B1FDD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8EC47-676B-21A5-3D83-1F1B874EF6FF}"/>
              </a:ext>
            </a:extLst>
          </p:cNvPr>
          <p:cNvSpPr txBox="1"/>
          <p:nvPr/>
        </p:nvSpPr>
        <p:spPr>
          <a:xfrm>
            <a:off x="0" y="1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</a:t>
            </a:r>
            <a:r>
              <a:rPr lang="en-US" b="1" dirty="0">
                <a:latin typeface="Courier New" panose="02070309020205020404" pitchFamily="49" charset="0"/>
              </a:rPr>
              <a:t>eda_analysis.py</a:t>
            </a:r>
            <a:r>
              <a:rPr lang="en-US" b="1" dirty="0"/>
              <a:t> (The Analytics Layer)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Performs Exploratory Data Analysis (EDA) to understand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Uses aggregation functions (</a:t>
            </a:r>
            <a:r>
              <a:rPr lang="en-US" dirty="0" err="1">
                <a:latin typeface="Courier New" panose="02070309020205020404" pitchFamily="49" charset="0"/>
              </a:rPr>
              <a:t>groupBy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count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avg</a:t>
            </a:r>
            <a:r>
              <a:rPr lang="en-US" dirty="0"/>
              <a:t>) to generate insights.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Analyzes attrition distribution, salary vs performance, and department-specific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E8BB9-DDD4-0E25-7BF9-E51433BFFFCC}"/>
              </a:ext>
            </a:extLst>
          </p:cNvPr>
          <p:cNvSpPr txBox="1"/>
          <p:nvPr/>
        </p:nvSpPr>
        <p:spPr>
          <a:xfrm>
            <a:off x="0" y="2690336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</a:t>
            </a:r>
            <a:r>
              <a:rPr lang="en-US" b="1" dirty="0">
                <a:latin typeface="Courier New" panose="02070309020205020404" pitchFamily="49" charset="0"/>
              </a:rPr>
              <a:t>feature_engineering.py</a:t>
            </a:r>
            <a:r>
              <a:rPr lang="en-US" b="1" dirty="0"/>
              <a:t> (The Enrichment Layer)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Creates new "Features" or columns that add more value to the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Calculates new metrics like </a:t>
            </a:r>
            <a:r>
              <a:rPr lang="en-US" b="1" dirty="0" err="1"/>
              <a:t>Engagement_Indicator</a:t>
            </a:r>
            <a:r>
              <a:rPr lang="en-US" dirty="0"/>
              <a:t> (Satisfaction + Balance) and </a:t>
            </a:r>
            <a:r>
              <a:rPr lang="en-US" b="1" dirty="0" err="1"/>
              <a:t>Loyalty_Indicator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improves the AI model's accuracy by giving it smarter data points.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C761A-CA65-C835-C506-5C733D238B85}"/>
              </a:ext>
            </a:extLst>
          </p:cNvPr>
          <p:cNvSpPr txBox="1"/>
          <p:nvPr/>
        </p:nvSpPr>
        <p:spPr>
          <a:xfrm>
            <a:off x="0" y="5380671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</a:t>
            </a:r>
            <a:r>
              <a:rPr lang="en-US" b="1" dirty="0">
                <a:latin typeface="Courier New" panose="02070309020205020404" pitchFamily="49" charset="0"/>
              </a:rPr>
              <a:t>models_classification.py</a:t>
            </a:r>
            <a:r>
              <a:rPr lang="en-US" b="1" dirty="0"/>
              <a:t> (Predictive AI)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Builds the classification models to predict employee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Implements algorithms like </a:t>
            </a:r>
            <a:r>
              <a:rPr lang="en-US" b="1" dirty="0"/>
              <a:t>Logistic Regression</a:t>
            </a:r>
            <a:r>
              <a:rPr lang="en-US" dirty="0"/>
              <a:t> or </a:t>
            </a:r>
            <a:r>
              <a:rPr lang="en-US" b="1" dirty="0"/>
              <a:t>Random Forest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splits data into "Training" and "Testing" sets to ensure the model is reliable.</a:t>
            </a:r>
          </a:p>
        </p:txBody>
      </p:sp>
    </p:spTree>
    <p:extLst>
      <p:ext uri="{BB962C8B-B14F-4D97-AF65-F5344CB8AC3E}">
        <p14:creationId xmlns:p14="http://schemas.microsoft.com/office/powerpoint/2010/main" val="149714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BE03-D8CA-75D2-1B53-091CA237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2DA09B-4266-F696-AAB2-C213375FE48C}"/>
              </a:ext>
            </a:extLst>
          </p:cNvPr>
          <p:cNvSpPr txBox="1"/>
          <p:nvPr/>
        </p:nvSpPr>
        <p:spPr>
          <a:xfrm>
            <a:off x="0" y="209868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8. </a:t>
            </a:r>
            <a:r>
              <a:rPr lang="en-US" b="1" dirty="0">
                <a:latin typeface="Courier New" panose="02070309020205020404" pitchFamily="49" charset="0"/>
              </a:rPr>
              <a:t>app.py</a:t>
            </a:r>
            <a:r>
              <a:rPr lang="en-US" b="1" dirty="0"/>
              <a:t> (The User Interface)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Creates the front-end interactive dashboard using </a:t>
            </a:r>
            <a:r>
              <a:rPr lang="en-US" b="1" dirty="0" err="1"/>
              <a:t>Streamlit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Uses </a:t>
            </a:r>
            <a:r>
              <a:rPr lang="en-US" b="1" dirty="0"/>
              <a:t>Plotly</a:t>
            </a:r>
            <a:r>
              <a:rPr lang="en-US" dirty="0"/>
              <a:t> to create interactive charts.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Connects the results of the Cloud Database to a visual UI for the manager.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8AC92-2638-D4EA-7384-745C78E454CD}"/>
              </a:ext>
            </a:extLst>
          </p:cNvPr>
          <p:cNvSpPr txBox="1"/>
          <p:nvPr/>
        </p:nvSpPr>
        <p:spPr>
          <a:xfrm>
            <a:off x="0" y="419736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9. </a:t>
            </a:r>
            <a:r>
              <a:rPr lang="en-US" b="1" dirty="0">
                <a:latin typeface="Courier New" panose="02070309020205020404" pitchFamily="49" charset="0"/>
              </a:rPr>
              <a:t>requirements.txt</a:t>
            </a:r>
            <a:r>
              <a:rPr lang="en-US" b="1" dirty="0"/>
              <a:t> (Environment Config)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Lists all the Python libraries needed to run the project.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D79A9-170A-89E9-0D79-74A27D1EA18B}"/>
              </a:ext>
            </a:extLst>
          </p:cNvPr>
          <p:cNvSpPr txBox="1"/>
          <p:nvPr/>
        </p:nvSpPr>
        <p:spPr>
          <a:xfrm>
            <a:off x="0" y="546504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10. </a:t>
            </a:r>
            <a:r>
              <a:rPr lang="en-US" b="1" dirty="0">
                <a:latin typeface="Courier New" panose="02070309020205020404" pitchFamily="49" charset="0"/>
              </a:rPr>
              <a:t>HR-Employee-Attrition.csv</a:t>
            </a:r>
            <a:r>
              <a:rPr lang="en-US" b="1" dirty="0"/>
              <a:t> (The Dataset)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The raw database containing employee records.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08302-3729-4A61-F34C-C391F0457DCF}"/>
              </a:ext>
            </a:extLst>
          </p:cNvPr>
          <p:cNvSpPr txBox="1"/>
          <p:nvPr/>
        </p:nvSpPr>
        <p:spPr>
          <a:xfrm>
            <a:off x="0" y="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</a:t>
            </a:r>
            <a:r>
              <a:rPr lang="en-US" b="1" dirty="0">
                <a:latin typeface="Courier New" panose="02070309020205020404" pitchFamily="49" charset="0"/>
              </a:rPr>
              <a:t>models_clustering.py</a:t>
            </a:r>
            <a:r>
              <a:rPr lang="en-US" b="1" dirty="0"/>
              <a:t> (Segmentation AI)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Groups employees into segments (Clusters) based on similarities.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Technical Details:</a:t>
            </a:r>
            <a:r>
              <a:rPr lang="en-US" dirty="0"/>
              <a:t> * Uses the </a:t>
            </a:r>
            <a:r>
              <a:rPr lang="en-US" b="1" dirty="0"/>
              <a:t>K-Means Clustering</a:t>
            </a:r>
            <a:r>
              <a:rPr lang="en-US" dirty="0"/>
              <a:t> algorithm.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Helps HR identify groups of employees with similar behaviors (e.g., "High Salary/Low Satisfaction").</a:t>
            </a:r>
          </a:p>
        </p:txBody>
      </p:sp>
    </p:spTree>
    <p:extLst>
      <p:ext uri="{BB962C8B-B14F-4D97-AF65-F5344CB8AC3E}">
        <p14:creationId xmlns:p14="http://schemas.microsoft.com/office/powerpoint/2010/main" val="4286835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4C83-E23F-8D7F-6FA3-E4BE0816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70DDD4-3E91-D85B-775D-DB41BB23C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854" y="-1"/>
            <a:ext cx="5833145" cy="35904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A04A8D-6156-55FB-E700-EA888F73FCFB}"/>
              </a:ext>
            </a:extLst>
          </p:cNvPr>
          <p:cNvSpPr txBox="1"/>
          <p:nvPr/>
        </p:nvSpPr>
        <p:spPr>
          <a:xfrm>
            <a:off x="0" y="0"/>
            <a:ext cx="63588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"This result shows the </a:t>
            </a:r>
            <a:r>
              <a:rPr lang="en-US" b="1" dirty="0"/>
              <a:t>Exploratory Data Analysis (EDA)</a:t>
            </a:r>
            <a:r>
              <a:rPr lang="en-US" dirty="0"/>
              <a:t>. We used </a:t>
            </a:r>
            <a:r>
              <a:rPr lang="en-US" dirty="0" err="1"/>
              <a:t>PySpark</a:t>
            </a:r>
            <a:r>
              <a:rPr lang="en-US" dirty="0"/>
              <a:t> to aggregate data and found the distribution of employees who left (Yes) vs. stayed (No). It also shows the correlation between </a:t>
            </a:r>
            <a:r>
              <a:rPr lang="en-US" b="1" dirty="0"/>
              <a:t>Performance Ratings</a:t>
            </a:r>
            <a:r>
              <a:rPr lang="en-US" dirty="0"/>
              <a:t> and </a:t>
            </a:r>
            <a:r>
              <a:rPr lang="en-US" b="1" dirty="0"/>
              <a:t>Monthly Income</a:t>
            </a:r>
            <a:r>
              <a:rPr lang="en-US" dirty="0"/>
              <a:t>, helping us identify if high performers are being compensated fairly in the cloud database."</a:t>
            </a:r>
          </a:p>
        </p:txBody>
      </p:sp>
    </p:spTree>
    <p:extLst>
      <p:ext uri="{BB962C8B-B14F-4D97-AF65-F5344CB8AC3E}">
        <p14:creationId xmlns:p14="http://schemas.microsoft.com/office/powerpoint/2010/main" val="364428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C56A-137B-3792-CB8D-0F682B76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6A66A4-9AD2-125F-075C-E8860083F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195" y="0"/>
            <a:ext cx="582980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6F7B21-7118-B192-2572-979F8072C5BE}"/>
              </a:ext>
            </a:extLst>
          </p:cNvPr>
          <p:cNvSpPr txBox="1"/>
          <p:nvPr/>
        </p:nvSpPr>
        <p:spPr>
          <a:xfrm>
            <a:off x="1" y="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"This is the output of our </a:t>
            </a:r>
            <a:r>
              <a:rPr lang="en-US" b="1" dirty="0"/>
              <a:t>Classification Model</a:t>
            </a:r>
            <a:r>
              <a:rPr lang="en-US" dirty="0"/>
              <a:t>. The system predicts the likelihood of an employee leaving. By analyzing features like 'Overtime' and 'Job Satisfaction', the AI identifies at-risk employees. This demonstrates the transition from a static database to a </a:t>
            </a:r>
            <a:r>
              <a:rPr lang="en-US" b="1" dirty="0"/>
              <a:t>Predictive Cloud Analytics</a:t>
            </a:r>
            <a:r>
              <a:rPr lang="en-US" dirty="0"/>
              <a:t> system."</a:t>
            </a:r>
          </a:p>
        </p:txBody>
      </p:sp>
    </p:spTree>
    <p:extLst>
      <p:ext uri="{BB962C8B-B14F-4D97-AF65-F5344CB8AC3E}">
        <p14:creationId xmlns:p14="http://schemas.microsoft.com/office/powerpoint/2010/main" val="2192391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DDAB-8C2D-A96B-E66E-9C37C7D8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B41DC-A737-6E8D-7465-83CD1F004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25" y="0"/>
            <a:ext cx="565697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89B51-F85C-32CB-5B49-8854E5F5495C}"/>
              </a:ext>
            </a:extLst>
          </p:cNvPr>
          <p:cNvSpPr txBox="1"/>
          <p:nvPr/>
        </p:nvSpPr>
        <p:spPr>
          <a:xfrm>
            <a:off x="1" y="0"/>
            <a:ext cx="64175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"This output represents </a:t>
            </a:r>
            <a:r>
              <a:rPr lang="en-US" b="1" dirty="0"/>
              <a:t>Employee Segmentation</a:t>
            </a:r>
            <a:r>
              <a:rPr lang="en-US" dirty="0"/>
              <a:t> using the K-Means Clustering algorithm. We grouped employees based on Age, Income, and Engagement levels. This allows HR to create targeted retention strategies for each specific group (Cluster) identified by the model."</a:t>
            </a:r>
          </a:p>
        </p:txBody>
      </p:sp>
    </p:spTree>
    <p:extLst>
      <p:ext uri="{BB962C8B-B14F-4D97-AF65-F5344CB8AC3E}">
        <p14:creationId xmlns:p14="http://schemas.microsoft.com/office/powerpoint/2010/main" val="179722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FFF3-26B5-849C-5350-535BE38F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F68B6E-910E-6E1D-5275-1D52A08CF400}"/>
              </a:ext>
            </a:extLst>
          </p:cNvPr>
          <p:cNvSpPr txBox="1"/>
          <p:nvPr/>
        </p:nvSpPr>
        <p:spPr>
          <a:xfrm>
            <a:off x="0" y="1"/>
            <a:ext cx="12192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Consumption Layer (Interactive Dashboard)</a:t>
            </a:r>
            <a:r>
              <a:rPr lang="ar-EG" b="1" dirty="0"/>
              <a:t> : 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Providing a user-friendly interface for HR managers to explore cloud-processed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Technology:</a:t>
            </a:r>
            <a:r>
              <a:rPr lang="en-US" dirty="0"/>
              <a:t> Built using </a:t>
            </a:r>
            <a:r>
              <a:rPr lang="en-US" b="1" dirty="0" err="1"/>
              <a:t>Streamlit</a:t>
            </a:r>
            <a:r>
              <a:rPr lang="en-US" dirty="0"/>
              <a:t> (Python framework) and </a:t>
            </a:r>
            <a:r>
              <a:rPr lang="en-US" b="1" dirty="0"/>
              <a:t>Plotly</a:t>
            </a:r>
            <a:r>
              <a:rPr lang="en-US" dirty="0"/>
              <a:t> for interactive visualizations.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Key Features of the Dashboard (as shown in the screenshot):</a:t>
            </a:r>
          </a:p>
          <a:p>
            <a:pPr>
              <a:buNone/>
            </a:pP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dirty="0"/>
              <a:t>Real-time Filtering:</a:t>
            </a:r>
            <a:r>
              <a:rPr lang="en-US" dirty="0"/>
              <a:t> The sidebar allows users to filter the database by </a:t>
            </a:r>
            <a:r>
              <a:rPr lang="en-US" b="1" dirty="0"/>
              <a:t>Department</a:t>
            </a:r>
            <a:r>
              <a:rPr lang="en-US" dirty="0"/>
              <a:t>, enabling dynamic analysis of specific teams.</a:t>
            </a:r>
          </a:p>
          <a:p>
            <a:pPr lvl="1">
              <a:buFont typeface="+mj-lt"/>
              <a:buAutoNum type="arabicPeriod"/>
            </a:pP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dirty="0"/>
              <a:t>Key Performance Indicators (KPIs):</a:t>
            </a:r>
            <a:r>
              <a:rPr lang="en-US" dirty="0"/>
              <a:t> High-level metrics like </a:t>
            </a:r>
            <a:r>
              <a:rPr lang="en-US" b="1" dirty="0"/>
              <a:t>Average Monthly Income</a:t>
            </a:r>
            <a:r>
              <a:rPr lang="en-US" dirty="0"/>
              <a:t>, </a:t>
            </a:r>
            <a:r>
              <a:rPr lang="en-US" b="1" dirty="0"/>
              <a:t>Average Age</a:t>
            </a:r>
            <a:r>
              <a:rPr lang="en-US" dirty="0"/>
              <a:t>, and </a:t>
            </a:r>
            <a:r>
              <a:rPr lang="en-US" b="1" dirty="0"/>
              <a:t>Total Experience</a:t>
            </a:r>
            <a:r>
              <a:rPr lang="en-US" dirty="0"/>
              <a:t> are calculated on the fly from the processed data.</a:t>
            </a:r>
          </a:p>
          <a:p>
            <a:pPr lvl="1">
              <a:buFont typeface="+mj-lt"/>
              <a:buAutoNum type="arabicPeriod"/>
            </a:pP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dirty="0"/>
              <a:t>Visual Analytics:</a:t>
            </a:r>
          </a:p>
          <a:p>
            <a:pPr lvl="1">
              <a:buFont typeface="+mj-lt"/>
              <a:buAutoNum type="arabicPeriod"/>
            </a:pPr>
            <a:endParaRPr lang="en-US" dirty="0"/>
          </a:p>
          <a:p>
            <a:pPr marL="1200150" lvl="2" indent="-285750">
              <a:buFont typeface="+mj-lt"/>
              <a:buAutoNum type="arabicPeriod"/>
            </a:pPr>
            <a:r>
              <a:rPr lang="en-US" b="1" dirty="0"/>
              <a:t>Attrition by Business Travel:</a:t>
            </a:r>
            <a:r>
              <a:rPr lang="en-US" dirty="0"/>
              <a:t> Shows how travel frequency affects employee turnover.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b="1" dirty="0"/>
              <a:t>Department-wise Attrition:</a:t>
            </a:r>
            <a:r>
              <a:rPr lang="en-US" dirty="0"/>
              <a:t> Identifies which departments are losing more talent.</a:t>
            </a:r>
          </a:p>
          <a:p>
            <a:pPr marL="1200150" lvl="2" indent="-285750"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Education Field vs. Attrition:</a:t>
            </a:r>
            <a:r>
              <a:rPr lang="en-US" dirty="0"/>
              <a:t> Analyzes if specific educational backgrounds correlate with staying or leaving.</a:t>
            </a:r>
          </a:p>
        </p:txBody>
      </p:sp>
    </p:spTree>
    <p:extLst>
      <p:ext uri="{BB962C8B-B14F-4D97-AF65-F5344CB8AC3E}">
        <p14:creationId xmlns:p14="http://schemas.microsoft.com/office/powerpoint/2010/main" val="414146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F0035-F959-13FF-ACB2-DAB6E4B3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85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BB6AC-97B1-AD4A-F04A-C574A35CB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47986"/>
            <a:ext cx="10905066" cy="436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39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E0BC-291F-ACDA-1F59-5D2656BB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BF360F-75D4-B8D1-F982-3079944294B2}"/>
              </a:ext>
            </a:extLst>
          </p:cNvPr>
          <p:cNvSpPr txBox="1"/>
          <p:nvPr/>
        </p:nvSpPr>
        <p:spPr>
          <a:xfrm>
            <a:off x="0" y="0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AI Predictions &amp; Insight Analysis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Visualizing the outcomes of the Machine Learning models (Classification &amp; Clustering).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Insights Displayed (from the screenshot):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Retention Forecast:</a:t>
            </a:r>
            <a:r>
              <a:rPr lang="en-US" dirty="0"/>
              <a:t> This is the most critical part. It shows the total count of employees predicted to </a:t>
            </a:r>
            <a:r>
              <a:rPr lang="en-US" b="1" dirty="0"/>
              <a:t>Stay (Success)</a:t>
            </a:r>
            <a:r>
              <a:rPr lang="en-US" dirty="0"/>
              <a:t> vs. those </a:t>
            </a:r>
            <a:r>
              <a:rPr lang="en-US" b="1" dirty="0"/>
              <a:t>At Risk (Error)</a:t>
            </a:r>
            <a:r>
              <a:rPr lang="en-US" dirty="0"/>
              <a:t>. This directly helps HR in proactive planning.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Overtime Impact (Sunburst Chart):</a:t>
            </a:r>
            <a:r>
              <a:rPr lang="en-US" dirty="0"/>
              <a:t> A deep-dive visualization showing the relationship between working overtime and the decision to leave. It proves that employees working extra hours have a higher attrition probability.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Income vs. Performance (Box Plot):</a:t>
            </a:r>
            <a:r>
              <a:rPr lang="en-US" dirty="0"/>
              <a:t> This chart analyzes the cloud database to see if high performance ratings correlate with higher monthly income, ensuring fair compensation.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Work-Life Balance Impact:</a:t>
            </a:r>
            <a:r>
              <a:rPr lang="en-US" dirty="0"/>
              <a:t> Shows how employee well-being affects retention, visualizing the distribution across different satisfaction levels.</a:t>
            </a:r>
          </a:p>
        </p:txBody>
      </p:sp>
    </p:spTree>
    <p:extLst>
      <p:ext uri="{BB962C8B-B14F-4D97-AF65-F5344CB8AC3E}">
        <p14:creationId xmlns:p14="http://schemas.microsoft.com/office/powerpoint/2010/main" val="443926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A0533-1E79-C28A-1F53-C40C0782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5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2B739-9C5E-16D6-541F-847FE7DF5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70558"/>
            <a:ext cx="10905066" cy="351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1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00CB-2494-02EE-42B8-A03004B3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11579-E550-9782-45F9-E13FAE85DBA9}"/>
              </a:ext>
            </a:extLst>
          </p:cNvPr>
          <p:cNvSpPr txBox="1"/>
          <p:nvPr/>
        </p:nvSpPr>
        <p:spPr>
          <a:xfrm>
            <a:off x="0" y="1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Transparency &amp; Raw Insights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Role:</a:t>
            </a:r>
            <a:r>
              <a:rPr lang="en-US" dirty="0"/>
              <a:t> Providing access to the filtered, processed records and deep-diving into performance metrics.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Components (from the screenshot):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Job Satisfaction Distribution:</a:t>
            </a:r>
            <a:r>
              <a:rPr lang="en-US" dirty="0"/>
              <a:t> A pie chart that shows the overall "Happiness" level in the database. This helps identify if the company culture is generally positive or needs intervention.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vs. Training:</a:t>
            </a:r>
            <a:r>
              <a:rPr lang="en-US" dirty="0"/>
              <a:t> A box plot that correlates how much training an employee receives versus their performance rating. In a Cloud Database, this helps optimize the budget for employee development.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Raw Data Explorer (The Table):</a:t>
            </a:r>
            <a:r>
              <a:rPr lang="en-US" dirty="0"/>
              <a:t> This is the </a:t>
            </a:r>
            <a:r>
              <a:rPr lang="en-US" b="1" dirty="0"/>
              <a:t>"Source of Truth."</a:t>
            </a:r>
            <a:r>
              <a:rPr lang="en-US" dirty="0"/>
              <a:t> It allows the user to see the actual records (Age, Business Travel, Department, etc.) that the AI models and charts are based 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Data Filtering:</a:t>
            </a:r>
            <a:r>
              <a:rPr lang="en-US" dirty="0"/>
              <a:t> It proves that the dashboard is dynamic; the table updates automatically based on the sidebar filters we selected.</a:t>
            </a:r>
          </a:p>
        </p:txBody>
      </p:sp>
    </p:spTree>
    <p:extLst>
      <p:ext uri="{BB962C8B-B14F-4D97-AF65-F5344CB8AC3E}">
        <p14:creationId xmlns:p14="http://schemas.microsoft.com/office/powerpoint/2010/main" val="2748971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283FC-2922-7624-6260-9F06EC7E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9FB4B-B2B0-0DD1-0749-21A8D72D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4667"/>
            <a:ext cx="11277600" cy="532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84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86DD-2613-6C00-1E90-4044CFB1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D8E9A-8931-C622-3E0B-6DA59B0B64E9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 &amp; Future Outlook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Main Title:</a:t>
            </a:r>
            <a:r>
              <a:rPr lang="en-US" dirty="0"/>
              <a:t> Transforming Data into Strategy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Achievements: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Cloud Scalability:</a:t>
            </a:r>
            <a:r>
              <a:rPr lang="en-US" dirty="0"/>
              <a:t> Implemented a robust </a:t>
            </a:r>
            <a:r>
              <a:rPr lang="en-US" dirty="0" err="1"/>
              <a:t>PySpark</a:t>
            </a:r>
            <a:r>
              <a:rPr lang="en-US" dirty="0"/>
              <a:t> pipeline capable of handling millions of records on distributed clusters.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Predictive Power:</a:t>
            </a:r>
            <a:r>
              <a:rPr lang="en-US" dirty="0"/>
              <a:t> Moved from traditional reporting to </a:t>
            </a:r>
            <a:r>
              <a:rPr lang="en-US" b="1" dirty="0"/>
              <a:t>Predictive HR Intelligence</a:t>
            </a:r>
            <a:r>
              <a:rPr lang="en-US" dirty="0"/>
              <a:t> using Machine Learning.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End-to-End Solution:</a:t>
            </a:r>
            <a:r>
              <a:rPr lang="en-US" dirty="0"/>
              <a:t> Bridged the gap between raw cloud databases and a user-ready interactive dashboard.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Closing Statement: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 dirty="0"/>
              <a:t>"Empowering Data-Driven Workforce Decisions through Cloud-Native Intelligence.“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79D72-4EB1-5166-3A13-29108E410F1F}"/>
              </a:ext>
            </a:extLst>
          </p:cNvPr>
          <p:cNvSpPr txBox="1"/>
          <p:nvPr/>
        </p:nvSpPr>
        <p:spPr>
          <a:xfrm>
            <a:off x="-1" y="3866973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dirty="0"/>
              <a:t>Thank You!</a:t>
            </a:r>
            <a:endParaRPr lang="en-US" dirty="0"/>
          </a:p>
          <a:p>
            <a:pPr lvl="1" algn="ctr"/>
            <a:r>
              <a:rPr lang="en-US" b="1" dirty="0"/>
              <a:t>Any Questions?</a:t>
            </a:r>
          </a:p>
          <a:p>
            <a:pPr lvl="1" algn="ctr"/>
            <a:r>
              <a:rPr lang="en-US" dirty="0"/>
              <a:t>[Omar • Ahmed • Moaz]</a:t>
            </a:r>
          </a:p>
        </p:txBody>
      </p:sp>
    </p:spTree>
    <p:extLst>
      <p:ext uri="{BB962C8B-B14F-4D97-AF65-F5344CB8AC3E}">
        <p14:creationId xmlns:p14="http://schemas.microsoft.com/office/powerpoint/2010/main" val="3996340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1559</Words>
  <Application>Microsoft Office PowerPoint</Application>
  <PresentationFormat>Widescreen</PresentationFormat>
  <Paragraphs>158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Ahmed</dc:creator>
  <cp:lastModifiedBy>Omar Ahmed</cp:lastModifiedBy>
  <cp:revision>5</cp:revision>
  <dcterms:created xsi:type="dcterms:W3CDTF">2026-05-09T16:18:15Z</dcterms:created>
  <dcterms:modified xsi:type="dcterms:W3CDTF">2026-05-10T19:56:38Z</dcterms:modified>
</cp:coreProperties>
</file>